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1" r:id="rId5"/>
    <p:sldId id="267" r:id="rId6"/>
    <p:sldId id="272" r:id="rId7"/>
    <p:sldId id="268" r:id="rId8"/>
    <p:sldId id="270" r:id="rId9"/>
    <p:sldId id="271" r:id="rId10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llagali praveen" userId="d959dbc7543bdda2" providerId="LiveId" clId="{EA5C08A3-8538-4992-8D22-CF0A99B2F151}"/>
    <pc:docChg chg="modSld">
      <pc:chgData name="challagali praveen" userId="d959dbc7543bdda2" providerId="LiveId" clId="{EA5C08A3-8538-4992-8D22-CF0A99B2F151}" dt="2026-07-22T04:39:41.499" v="24" actId="22"/>
      <pc:docMkLst>
        <pc:docMk/>
      </pc:docMkLst>
      <pc:sldChg chg="modSp mod">
        <pc:chgData name="challagali praveen" userId="d959dbc7543bdda2" providerId="LiveId" clId="{EA5C08A3-8538-4992-8D22-CF0A99B2F151}" dt="2026-07-22T04:36:53.011" v="2" actId="1076"/>
        <pc:sldMkLst>
          <pc:docMk/>
          <pc:sldMk cId="0" sldId="256"/>
        </pc:sldMkLst>
        <pc:picChg chg="mod">
          <ac:chgData name="challagali praveen" userId="d959dbc7543bdda2" providerId="LiveId" clId="{EA5C08A3-8538-4992-8D22-CF0A99B2F151}" dt="2026-07-22T04:36:53.011" v="2" actId="1076"/>
          <ac:picMkLst>
            <pc:docMk/>
            <pc:sldMk cId="0" sldId="256"/>
            <ac:picMk id="5" creationId="{00000000-0000-0000-0000-000000000000}"/>
          </ac:picMkLst>
        </pc:picChg>
        <pc:picChg chg="mod">
          <ac:chgData name="challagali praveen" userId="d959dbc7543bdda2" providerId="LiveId" clId="{EA5C08A3-8538-4992-8D22-CF0A99B2F151}" dt="2026-07-22T04:36:46.870" v="1" actId="1076"/>
          <ac:picMkLst>
            <pc:docMk/>
            <pc:sldMk cId="0" sldId="256"/>
            <ac:picMk id="6" creationId="{00000000-0000-0000-0000-000000000000}"/>
          </ac:picMkLst>
        </pc:picChg>
      </pc:sldChg>
      <pc:sldChg chg="addSp modSp mod">
        <pc:chgData name="challagali praveen" userId="d959dbc7543bdda2" providerId="LiveId" clId="{EA5C08A3-8538-4992-8D22-CF0A99B2F151}" dt="2026-07-22T04:39:16.754" v="20" actId="1036"/>
        <pc:sldMkLst>
          <pc:docMk/>
          <pc:sldMk cId="2735625634" sldId="257"/>
        </pc:sldMkLst>
        <pc:spChg chg="mod">
          <ac:chgData name="challagali praveen" userId="d959dbc7543bdda2" providerId="LiveId" clId="{EA5C08A3-8538-4992-8D22-CF0A99B2F151}" dt="2026-07-22T04:37:53.948" v="7" actId="1076"/>
          <ac:spMkLst>
            <pc:docMk/>
            <pc:sldMk cId="2735625634" sldId="257"/>
            <ac:spMk id="2" creationId="{EFB68E2F-562F-3575-A8A3-77C4CD3FE7F7}"/>
          </ac:spMkLst>
        </pc:spChg>
        <pc:spChg chg="mod">
          <ac:chgData name="challagali praveen" userId="d959dbc7543bdda2" providerId="LiveId" clId="{EA5C08A3-8538-4992-8D22-CF0A99B2F151}" dt="2026-07-22T04:37:47.740" v="6" actId="1076"/>
          <ac:spMkLst>
            <pc:docMk/>
            <pc:sldMk cId="2735625634" sldId="257"/>
            <ac:spMk id="5" creationId="{89A560F0-1133-8F9C-954F-D7BBFFE47B61}"/>
          </ac:spMkLst>
        </pc:spChg>
        <pc:picChg chg="add">
          <ac:chgData name="challagali praveen" userId="d959dbc7543bdda2" providerId="LiveId" clId="{EA5C08A3-8538-4992-8D22-CF0A99B2F151}" dt="2026-07-22T04:37:26.505" v="5" actId="22"/>
          <ac:picMkLst>
            <pc:docMk/>
            <pc:sldMk cId="2735625634" sldId="257"/>
            <ac:picMk id="4" creationId="{136CEEA1-75B6-72F2-E80B-2AF7C16BC5FA}"/>
          </ac:picMkLst>
        </pc:picChg>
        <pc:picChg chg="add mod">
          <ac:chgData name="challagali praveen" userId="d959dbc7543bdda2" providerId="LiveId" clId="{EA5C08A3-8538-4992-8D22-CF0A99B2F151}" dt="2026-07-22T04:39:16.754" v="20" actId="1036"/>
          <ac:picMkLst>
            <pc:docMk/>
            <pc:sldMk cId="2735625634" sldId="257"/>
            <ac:picMk id="8" creationId="{8319E74A-0C34-BE7C-DF6A-0BFDE06CEF6F}"/>
          </ac:picMkLst>
        </pc:picChg>
      </pc:sldChg>
      <pc:sldChg chg="addSp modSp mod">
        <pc:chgData name="challagali praveen" userId="d959dbc7543bdda2" providerId="LiveId" clId="{EA5C08A3-8538-4992-8D22-CF0A99B2F151}" dt="2026-07-22T04:39:20.431" v="21" actId="22"/>
        <pc:sldMkLst>
          <pc:docMk/>
          <pc:sldMk cId="800109877" sldId="259"/>
        </pc:sldMkLst>
        <pc:spChg chg="mod">
          <ac:chgData name="challagali praveen" userId="d959dbc7543bdda2" providerId="LiveId" clId="{EA5C08A3-8538-4992-8D22-CF0A99B2F151}" dt="2026-07-22T04:38:06.793" v="9" actId="14100"/>
          <ac:spMkLst>
            <pc:docMk/>
            <pc:sldMk cId="800109877" sldId="259"/>
            <ac:spMk id="2" creationId="{7F502AC2-74B6-32EC-5EC1-87050ABE928F}"/>
          </ac:spMkLst>
        </pc:spChg>
        <pc:picChg chg="add">
          <ac:chgData name="challagali praveen" userId="d959dbc7543bdda2" providerId="LiveId" clId="{EA5C08A3-8538-4992-8D22-CF0A99B2F151}" dt="2026-07-22T04:38:09.001" v="10" actId="22"/>
          <ac:picMkLst>
            <pc:docMk/>
            <pc:sldMk cId="800109877" sldId="259"/>
            <ac:picMk id="4" creationId="{185BD059-EC15-69C3-F092-BDF66CA0F4D4}"/>
          </ac:picMkLst>
        </pc:picChg>
        <pc:picChg chg="add">
          <ac:chgData name="challagali praveen" userId="d959dbc7543bdda2" providerId="LiveId" clId="{EA5C08A3-8538-4992-8D22-CF0A99B2F151}" dt="2026-07-22T04:39:20.431" v="21" actId="22"/>
          <ac:picMkLst>
            <pc:docMk/>
            <pc:sldMk cId="800109877" sldId="259"/>
            <ac:picMk id="8" creationId="{B3DD118C-A933-CA6F-2E03-10D7B10F1BFC}"/>
          </ac:picMkLst>
        </pc:picChg>
      </pc:sldChg>
      <pc:sldChg chg="addSp modSp mod">
        <pc:chgData name="challagali praveen" userId="d959dbc7543bdda2" providerId="LiveId" clId="{EA5C08A3-8538-4992-8D22-CF0A99B2F151}" dt="2026-07-22T04:39:25.601" v="22" actId="22"/>
        <pc:sldMkLst>
          <pc:docMk/>
          <pc:sldMk cId="0" sldId="261"/>
        </pc:sldMkLst>
        <pc:spChg chg="mod">
          <ac:chgData name="challagali praveen" userId="d959dbc7543bdda2" providerId="LiveId" clId="{EA5C08A3-8538-4992-8D22-CF0A99B2F151}" dt="2026-07-22T04:38:18.304" v="11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challagali praveen" userId="d959dbc7543bdda2" providerId="LiveId" clId="{EA5C08A3-8538-4992-8D22-CF0A99B2F151}" dt="2026-07-22T04:38:26.152" v="13" actId="1076"/>
          <ac:spMkLst>
            <pc:docMk/>
            <pc:sldMk cId="0" sldId="261"/>
            <ac:spMk id="3" creationId="{00000000-0000-0000-0000-000000000000}"/>
          </ac:spMkLst>
        </pc:spChg>
        <pc:picChg chg="add">
          <ac:chgData name="challagali praveen" userId="d959dbc7543bdda2" providerId="LiveId" clId="{EA5C08A3-8538-4992-8D22-CF0A99B2F151}" dt="2026-07-22T04:38:20.337" v="12" actId="22"/>
          <ac:picMkLst>
            <pc:docMk/>
            <pc:sldMk cId="0" sldId="261"/>
            <ac:picMk id="5" creationId="{CB92200D-1BA3-565D-A924-2231E0133109}"/>
          </ac:picMkLst>
        </pc:picChg>
        <pc:picChg chg="add">
          <ac:chgData name="challagali praveen" userId="d959dbc7543bdda2" providerId="LiveId" clId="{EA5C08A3-8538-4992-8D22-CF0A99B2F151}" dt="2026-07-22T04:39:25.601" v="22" actId="22"/>
          <ac:picMkLst>
            <pc:docMk/>
            <pc:sldMk cId="0" sldId="261"/>
            <ac:picMk id="8" creationId="{F52AF120-3A34-3463-516E-8BD0CD59A848}"/>
          </ac:picMkLst>
        </pc:picChg>
      </pc:sldChg>
      <pc:sldChg chg="addSp modSp mod">
        <pc:chgData name="challagali praveen" userId="d959dbc7543bdda2" providerId="LiveId" clId="{EA5C08A3-8538-4992-8D22-CF0A99B2F151}" dt="2026-07-22T04:39:30.869" v="23" actId="22"/>
        <pc:sldMkLst>
          <pc:docMk/>
          <pc:sldMk cId="0" sldId="267"/>
        </pc:sldMkLst>
        <pc:spChg chg="mod">
          <ac:chgData name="challagali praveen" userId="d959dbc7543bdda2" providerId="LiveId" clId="{EA5C08A3-8538-4992-8D22-CF0A99B2F151}" dt="2026-07-22T04:38:34.678" v="14" actId="14100"/>
          <ac:spMkLst>
            <pc:docMk/>
            <pc:sldMk cId="0" sldId="267"/>
            <ac:spMk id="2" creationId="{00000000-0000-0000-0000-000000000000}"/>
          </ac:spMkLst>
        </pc:spChg>
        <pc:picChg chg="add">
          <ac:chgData name="challagali praveen" userId="d959dbc7543bdda2" providerId="LiveId" clId="{EA5C08A3-8538-4992-8D22-CF0A99B2F151}" dt="2026-07-22T04:38:36.716" v="15" actId="22"/>
          <ac:picMkLst>
            <pc:docMk/>
            <pc:sldMk cId="0" sldId="267"/>
            <ac:picMk id="5" creationId="{451C577F-D4EF-006B-70D0-E4EEEAA0F986}"/>
          </ac:picMkLst>
        </pc:picChg>
        <pc:picChg chg="add">
          <ac:chgData name="challagali praveen" userId="d959dbc7543bdda2" providerId="LiveId" clId="{EA5C08A3-8538-4992-8D22-CF0A99B2F151}" dt="2026-07-22T04:39:30.869" v="23" actId="22"/>
          <ac:picMkLst>
            <pc:docMk/>
            <pc:sldMk cId="0" sldId="267"/>
            <ac:picMk id="8" creationId="{E73558D0-CDFF-F485-6A3D-EE0FE7BC8AE8}"/>
          </ac:picMkLst>
        </pc:picChg>
      </pc:sldChg>
      <pc:sldChg chg="addSp modSp mod">
        <pc:chgData name="challagali praveen" userId="d959dbc7543bdda2" providerId="LiveId" clId="{EA5C08A3-8538-4992-8D22-CF0A99B2F151}" dt="2026-07-22T04:39:41.499" v="24" actId="22"/>
        <pc:sldMkLst>
          <pc:docMk/>
          <pc:sldMk cId="4009650274" sldId="272"/>
        </pc:sldMkLst>
        <pc:spChg chg="mod">
          <ac:chgData name="challagali praveen" userId="d959dbc7543bdda2" providerId="LiveId" clId="{EA5C08A3-8538-4992-8D22-CF0A99B2F151}" dt="2026-07-22T04:38:50.344" v="17" actId="14100"/>
          <ac:spMkLst>
            <pc:docMk/>
            <pc:sldMk cId="4009650274" sldId="272"/>
            <ac:spMk id="2" creationId="{8ADB1D5F-060F-D9AC-CE96-F94D364AE103}"/>
          </ac:spMkLst>
        </pc:spChg>
        <pc:spChg chg="mod">
          <ac:chgData name="challagali praveen" userId="d959dbc7543bdda2" providerId="LiveId" clId="{EA5C08A3-8538-4992-8D22-CF0A99B2F151}" dt="2026-07-22T04:38:57.584" v="18" actId="1076"/>
          <ac:spMkLst>
            <pc:docMk/>
            <pc:sldMk cId="4009650274" sldId="272"/>
            <ac:spMk id="8" creationId="{BCB74810-8ABA-1EF5-F8B5-6FFE116C7EFA}"/>
          </ac:spMkLst>
        </pc:spChg>
        <pc:picChg chg="add">
          <ac:chgData name="challagali praveen" userId="d959dbc7543bdda2" providerId="LiveId" clId="{EA5C08A3-8538-4992-8D22-CF0A99B2F151}" dt="2026-07-22T04:38:45.192" v="16" actId="22"/>
          <ac:picMkLst>
            <pc:docMk/>
            <pc:sldMk cId="4009650274" sldId="272"/>
            <ac:picMk id="5" creationId="{1F47AB6B-4FC8-EBB6-6D17-D3EC4CE06CA5}"/>
          </ac:picMkLst>
        </pc:picChg>
        <pc:picChg chg="add">
          <ac:chgData name="challagali praveen" userId="d959dbc7543bdda2" providerId="LiveId" clId="{EA5C08A3-8538-4992-8D22-CF0A99B2F151}" dt="2026-07-22T04:39:41.499" v="24" actId="22"/>
          <ac:picMkLst>
            <pc:docMk/>
            <pc:sldMk cId="4009650274" sldId="272"/>
            <ac:picMk id="7" creationId="{FA3355F6-CCE2-CCD7-712D-62D9978F82F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71612-7C22-4D95-B5A6-6156FFB95CEF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F8A3F-998E-4E1C-A154-A9E81C777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89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87321-6423-4696-B65D-FE73DE5299A8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C10CE-AFF0-4187-99B0-3EBD8E2E8D0D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D5E35-7A04-4F45-BB6D-09958B8B7EFD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08E27-179A-4F33-A761-9D356220EA91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5D475-AF9E-4E6E-8025-9D5B5A5AF4B7}" type="datetime1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2F8B8-B387-41B9-9B3A-A10F05459C9F}" type="datetime1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8070D-DFFA-4D4B-A266-5B7973285AFC}" type="datetime1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543D8-3860-445E-8F88-1DB84E903C52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B3955-CBA1-4237-BF70-B61EC3C23CE3}" type="datetime1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9F50-A42F-4487-85AD-2B2FF141DCA4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4374B-6A97-45AD-B833-8F6316181359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AAF45-A6CF-4876-AFCD-C7562EC9BB98}" type="datetime1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studio.microsoft.com/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7352" y="1677250"/>
            <a:ext cx="11569649" cy="1207464"/>
          </a:xfrm>
        </p:spPr>
        <p:txBody>
          <a:bodyPr>
            <a:normAutofit/>
          </a:bodyPr>
          <a:lstStyle/>
          <a:p>
            <a:r>
              <a:rPr lang="en-IN" sz="3600" b="1" dirty="0"/>
              <a:t>Cloud Security: Principles and Best Practices</a:t>
            </a:r>
            <a:endParaRPr lang="en-US" altLang="en-US" sz="36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42176" y="4073414"/>
            <a:ext cx="5813425" cy="134288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Presented by: 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altLang="en-IN" sz="28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               Ch. Rohith(192525453)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20484" y="0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03" y="3226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032A15F-7F27-E1A0-CD1D-72EB71D8C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E94A3DA-1FDA-288B-9CDC-4BD51ACEC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348" y="-91528"/>
            <a:ext cx="9055299" cy="155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SIMATS SCHOOL OF ENGINEERING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SAVEETHA INSTITUTE OF MEDICAL AND TECHNICAL SCIENCES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CHENNAI-602105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C614BDC-6B71-B639-075A-53C9FCB3D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E09983C-6694-C4AF-00F0-15B16D26C773}"/>
              </a:ext>
            </a:extLst>
          </p:cNvPr>
          <p:cNvSpPr txBox="1">
            <a:spLocks/>
          </p:cNvSpPr>
          <p:nvPr/>
        </p:nvSpPr>
        <p:spPr>
          <a:xfrm>
            <a:off x="1099457" y="4305229"/>
            <a:ext cx="4843026" cy="1550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 (s) 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0"/>
              </a:spcBef>
              <a:buClr>
                <a:srgbClr val="000000"/>
              </a:buClr>
              <a:buSzPts val="3600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R Hemavathi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alt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2B9004-159F-1BED-7BB4-B5032795C1F9}"/>
              </a:ext>
            </a:extLst>
          </p:cNvPr>
          <p:cNvSpPr txBox="1"/>
          <p:nvPr/>
        </p:nvSpPr>
        <p:spPr>
          <a:xfrm>
            <a:off x="2002971" y="3027454"/>
            <a:ext cx="8882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CSA1511 – CLOUD COMPUTING AND BIG DATA ANALYSIS</a:t>
            </a:r>
            <a:endParaRPr lang="en-IN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FCF4A-FC26-996A-E6E4-4C41FE810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08088-5C7B-F4DB-303A-9D5978E18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68E2F-562F-3575-A8A3-77C4CD3FE7F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54376" y="90245"/>
            <a:ext cx="5392738" cy="1325563"/>
          </a:xfrm>
        </p:spPr>
        <p:txBody>
          <a:bodyPr>
            <a:normAutofit/>
          </a:bodyPr>
          <a:lstStyle/>
          <a:p>
            <a:r>
              <a:rPr lang="en-IN" b="1" dirty="0"/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560F0-1133-8F9C-954F-D7BBFFE47B61}"/>
              </a:ext>
            </a:extLst>
          </p:cNvPr>
          <p:cNvSpPr txBox="1"/>
          <p:nvPr/>
        </p:nvSpPr>
        <p:spPr>
          <a:xfrm>
            <a:off x="1023258" y="1407416"/>
            <a:ext cx="9535886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/>
              <a:t>Cloud security</a:t>
            </a:r>
            <a:r>
              <a:rPr lang="en-IN" sz="2000" dirty="0"/>
              <a:t> is the practice of protecting cloud-based data, applications, and infrastructure from cyber threats and unauthorized access.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It uses </a:t>
            </a:r>
            <a:r>
              <a:rPr lang="en-IN" sz="2000" b="1" dirty="0"/>
              <a:t>security technologies, policies, and controls</a:t>
            </a:r>
            <a:r>
              <a:rPr lang="en-IN" sz="2000" dirty="0"/>
              <a:t> to ensure a safe and reliable cloud environment.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The main objective is to maintain the </a:t>
            </a:r>
            <a:r>
              <a:rPr lang="en-IN" sz="2000" b="1" dirty="0"/>
              <a:t>Confidentiality, Integrity, and Availability (CIA)</a:t>
            </a:r>
            <a:r>
              <a:rPr lang="en-IN" sz="2000" dirty="0"/>
              <a:t> of data and services.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Cloud security helps prevent </a:t>
            </a:r>
            <a:r>
              <a:rPr lang="en-IN" sz="2000" b="1" dirty="0"/>
              <a:t>data breaches, malware attacks, account hijacking, and other cyber risks</a:t>
            </a:r>
            <a:r>
              <a:rPr lang="en-IN" sz="2000" dirty="0"/>
              <a:t>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It follows a </a:t>
            </a:r>
            <a:r>
              <a:rPr lang="en-IN" sz="2000" b="1" dirty="0"/>
              <a:t>shared responsibility model</a:t>
            </a:r>
            <a:r>
              <a:rPr lang="en-IN" sz="2000" dirty="0"/>
              <a:t>, where cloud providers secure the infrastructure, while customers are responsible for protecting their data, applications, and user access.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CEEA1-75B6-72F2-E80B-2AF7C16BC5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03" y="3226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19E74A-0C34-BE7C-DF6A-0BFDE06CEF6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20484" y="10886"/>
            <a:ext cx="1135117" cy="1342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5625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D031E-EB7D-4AA8-50CF-FCFC806C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with his head in his hands looking at a computer">
            <a:extLst>
              <a:ext uri="{FF2B5EF4-FFF2-40B4-BE49-F238E27FC236}">
                <a16:creationId xmlns:a16="http://schemas.microsoft.com/office/drawing/2014/main" id="{ECBF8928-C409-3D51-C293-D6957FC28E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91" b="21025"/>
          <a:stretch>
            <a:fillRect/>
          </a:stretch>
        </p:blipFill>
        <p:spPr>
          <a:xfrm>
            <a:off x="0" y="0"/>
            <a:ext cx="12191980" cy="6857990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502AC2-74B6-32EC-5EC1-87050ABE9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6771" y="116227"/>
            <a:ext cx="5540830" cy="1325563"/>
          </a:xfrm>
        </p:spPr>
        <p:txBody>
          <a:bodyPr>
            <a:normAutofit/>
          </a:bodyPr>
          <a:lstStyle/>
          <a:p>
            <a:r>
              <a:rPr lang="en-IN" b="1" i="0" u="none" strike="noStrike" baseline="0" dirty="0">
                <a:latin typeface="Times New Roman"/>
                <a:cs typeface="Times New Roman"/>
              </a:rPr>
              <a:t>ABSTRACT</a:t>
            </a:r>
            <a:endParaRPr lang="en-IN" b="1" dirty="0">
              <a:latin typeface="Times New Roman"/>
              <a:cs typeface="Times New Roman"/>
            </a:endParaRPr>
          </a:p>
        </p:txBody>
      </p: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D02D6B6A-7983-AF4E-5BA4-B588CC405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825"/>
            <a:ext cx="10515600" cy="4351338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 </a:t>
            </a:r>
            <a:r>
              <a:rPr lang="en-IN" sz="2600" dirty="0"/>
              <a:t>Cloud computing has transformed the way organizations store, manage, and access data by providing scalable, flexible, and cost-effective computing resources over the internet. However, the increasing adoption of cloud services has also introduced significant security challenges, making cloud security a critical aspect of modern IT infrastructure. Cloud security involves the implementation of technologies, policies, and best practices to protect cloud-based data, applications, and services from cyber threats, unauthorized access, and data breaches.</a:t>
            </a:r>
            <a:endParaRPr lang="en-US"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1FB43-AE72-F9B2-7B9E-54659DDD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5BD059-EC15-69C3-F092-BDF66CA0F4D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03" y="3226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DD118C-A933-CA6F-2E03-10D7B10F1BF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20484" y="0"/>
            <a:ext cx="1135117" cy="1342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0010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743" y="133122"/>
            <a:ext cx="9503229" cy="139836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 dirty="0"/>
              <a:t>Data Protection &amp; Network Security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62086"/>
            <a:ext cx="10820400" cy="525099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sz="20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IN" sz="2800" b="1" dirty="0"/>
              <a:t>Data Protection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Encrypt data at rest and in transit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Secure backups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Key management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Data masking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800" b="1" dirty="0"/>
              <a:t>Network Security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Firewalls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Virtual Private Networks (VPNs)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Secure APIs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Intrusion Detection &amp; Prevention Systems (IDS/IPS) 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C6D9-AB89-86E2-4553-BE9EED57F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2200D-1BA3-565D-A924-2231E013310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03" y="3226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2AF120-3A34-3463-516E-8BD0CD59A84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20484" y="0"/>
            <a:ext cx="1135117" cy="134288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0686" y="343989"/>
            <a:ext cx="8077200" cy="1082040"/>
          </a:xfrm>
        </p:spPr>
        <p:txBody>
          <a:bodyPr anchor="t">
            <a:normAutofit/>
          </a:bodyPr>
          <a:lstStyle/>
          <a:p>
            <a:r>
              <a:rPr lang="en-IN" b="1" dirty="0"/>
              <a:t>Cloud Security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714" y="1426029"/>
            <a:ext cx="10374086" cy="528453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IN" sz="2800" b="1" dirty="0"/>
              <a:t>Recommended Practices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Enable Multi-Factor Authentication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Encrypt sensitive information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Regularly update software and patches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Monitor cloud resources continuously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Conduct security audits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Train employees on cybersecurity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Implement Zero Trust Architecture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b="0" i="0" u="none" strike="noStrike" baseline="0" dirty="0">
              <a:latin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DB6DA-89DD-7AD1-A6CC-048AB3E1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z="1000"/>
              <a:pPr>
                <a:spcAft>
                  <a:spcPts val="600"/>
                </a:spcAft>
              </a:pPr>
              <a:t>5</a:t>
            </a:fld>
            <a:endParaRPr lang="en-US" sz="1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1C577F-D4EF-006B-70D0-E4EEEAA0F98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03" y="3226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3558D0-CDFF-F485-6A3D-EE0FE7BC8AE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20484" y="0"/>
            <a:ext cx="1135117" cy="134288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B1D5F-060F-D9AC-CE96-F94D364AE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629" y="136524"/>
            <a:ext cx="9797142" cy="1143000"/>
          </a:xfrm>
        </p:spPr>
        <p:txBody>
          <a:bodyPr/>
          <a:lstStyle/>
          <a:p>
            <a:r>
              <a:rPr lang="en-IN" b="1" dirty="0"/>
              <a:t>Compliance &amp; Security Standards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2C4946-D858-A350-5872-3B92DA56C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74810-8ABA-1EF5-F8B5-6FFE116C7EFA}"/>
              </a:ext>
            </a:extLst>
          </p:cNvPr>
          <p:cNvSpPr txBox="1"/>
          <p:nvPr/>
        </p:nvSpPr>
        <p:spPr>
          <a:xfrm>
            <a:off x="892760" y="1098282"/>
            <a:ext cx="10842171" cy="5759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/>
              <a:t>Emerging Trends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AI-powered threat detection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Zero Trust Security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Cloud Security Posture Management (CSPM)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Extended Detection and Response (XDR)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Secure Access Service Edge (SASE) 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Case Study: Capital One Data Breach (2019)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Cause:</a:t>
            </a:r>
            <a:r>
              <a:rPr lang="en-IN" sz="2400" dirty="0"/>
              <a:t> Misconfigured cloud firewall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Impact:</a:t>
            </a:r>
            <a:r>
              <a:rPr lang="en-IN" sz="2400" dirty="0"/>
              <a:t> Over 100 million customer records exposed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Lesson:</a:t>
            </a:r>
            <a:r>
              <a:rPr lang="en-IN" dirty="0"/>
              <a:t> </a:t>
            </a:r>
            <a:r>
              <a:rPr lang="en-IN" sz="2400" dirty="0"/>
              <a:t>Continuous monitoring and proper cloud configuration are essential</a:t>
            </a:r>
            <a:r>
              <a:rPr lang="en-IN" dirty="0"/>
              <a:t>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7AB6B-4FC8-EBB6-6D17-D3EC4CE06CA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03" y="3226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3355F6-CCE2-CCD7-712D-62D9978F82F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20484" y="0"/>
            <a:ext cx="1135117" cy="13428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0965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515" y="3429576"/>
            <a:ext cx="3298372" cy="2452687"/>
          </a:xfrm>
        </p:spPr>
        <p:txBody>
          <a:bodyPr anchor="ctr">
            <a:normAutofit/>
          </a:bodyPr>
          <a:lstStyle/>
          <a:p>
            <a:r>
              <a:rPr lang="en-US" b="1" dirty="0"/>
              <a:t>Conclusion</a:t>
            </a:r>
          </a:p>
        </p:txBody>
      </p:sp>
      <p:pic>
        <p:nvPicPr>
          <p:cNvPr id="4" name="Picture 3" descr="Importance of a Good Handshake">
            <a:extLst>
              <a:ext uri="{FF2B5EF4-FFF2-40B4-BE49-F238E27FC236}">
                <a16:creationId xmlns:a16="http://schemas.microsoft.com/office/drawing/2014/main" id="{D08696FE-422C-AF20-E5F4-DD0FFBC8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517" r="948" b="29113"/>
          <a:stretch>
            <a:fillRect/>
          </a:stretch>
        </p:blipFill>
        <p:spPr>
          <a:xfrm>
            <a:off x="11566" y="2312"/>
            <a:ext cx="12180333" cy="2984368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2800" y="3069771"/>
            <a:ext cx="8651503" cy="3651704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Cloud security protects cloud data, applications, and infrastructure.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The </a:t>
            </a:r>
            <a:r>
              <a:rPr lang="en-IN" sz="2400" b="1" dirty="0"/>
              <a:t>CIA Triad (Confidentiality, Integrity, Availability)</a:t>
            </a:r>
            <a:r>
              <a:rPr lang="en-IN" sz="2400" dirty="0"/>
              <a:t> is the foundation of cloud security.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Implementing </a:t>
            </a:r>
            <a:r>
              <a:rPr lang="en-IN" sz="2400" b="1" dirty="0"/>
              <a:t>IAM, encryption, continuous monitoring, and compliance standards</a:t>
            </a:r>
            <a:r>
              <a:rPr lang="en-IN" sz="2400" dirty="0"/>
              <a:t> strengthens cloud security.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Cloud security is a </a:t>
            </a:r>
            <a:r>
              <a:rPr lang="en-IN" sz="2400" b="1" dirty="0"/>
              <a:t>shared responsibility</a:t>
            </a:r>
            <a:r>
              <a:rPr lang="en-IN" sz="2400" dirty="0"/>
              <a:t> between cloud providers and customers.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 dirty="0">
              <a:ea typeface="Calibri"/>
              <a:cs typeface="Calibri"/>
            </a:endParaRPr>
          </a:p>
          <a:p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33A71-A6AF-B508-7C0E-D9A56A463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4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11 Essential Web Design Books">
            <a:extLst>
              <a:ext uri="{FF2B5EF4-FFF2-40B4-BE49-F238E27FC236}">
                <a16:creationId xmlns:a16="http://schemas.microsoft.com/office/drawing/2014/main" id="{C1CF6D2E-4662-6498-0D21-E36A60D48E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782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3345"/>
            <a:ext cx="10515600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N" sz="3000" b="1" dirty="0"/>
              <a:t>Textbooks:</a:t>
            </a:r>
            <a:endParaRPr lang="en-IN" sz="3000" dirty="0"/>
          </a:p>
          <a:p>
            <a:r>
              <a:rPr lang="en-IN" sz="2600" dirty="0"/>
              <a:t>Stallings, W. (2021). </a:t>
            </a:r>
            <a:r>
              <a:rPr lang="en-IN" sz="2600" b="1" dirty="0"/>
              <a:t>Network Security Essentials: Applications and Standards</a:t>
            </a:r>
            <a:r>
              <a:rPr lang="en-IN" sz="2600" dirty="0"/>
              <a:t> (7th ed.). Pearson Education. </a:t>
            </a:r>
          </a:p>
          <a:p>
            <a:r>
              <a:rPr lang="en-IN" sz="2600" dirty="0"/>
              <a:t>Stallings, W. (2020). </a:t>
            </a:r>
            <a:r>
              <a:rPr lang="en-IN" sz="2600" b="1" dirty="0"/>
              <a:t>Cryptography and Network Security: Principles and Practice</a:t>
            </a:r>
            <a:r>
              <a:rPr lang="en-IN" sz="2600" dirty="0"/>
              <a:t> (8th ed.). Pearson Education. NIST. (2020). </a:t>
            </a:r>
          </a:p>
          <a:p>
            <a:r>
              <a:rPr lang="en-IN" sz="2600" b="1" dirty="0"/>
              <a:t>NIST Special Publication 800-144: Guidelines on Security and Privacy in Public Cloud Computing</a:t>
            </a:r>
            <a:r>
              <a:rPr lang="en-IN" sz="2600" dirty="0"/>
              <a:t>. National Institute of Standards and Technology. </a:t>
            </a:r>
          </a:p>
          <a:p>
            <a:r>
              <a:rPr lang="en-IN" sz="2600" dirty="0"/>
              <a:t>Jansen, W., &amp; Grance, T. (2011). </a:t>
            </a:r>
            <a:r>
              <a:rPr lang="en-IN" sz="2600" b="1" dirty="0"/>
              <a:t>Guidelines on Security and Privacy in Public Cloud Computing (NIST SP 800-144)</a:t>
            </a:r>
            <a:r>
              <a:rPr lang="en-IN" sz="2600" dirty="0"/>
              <a:t>. National Institute of Standards and Technology. </a:t>
            </a:r>
          </a:p>
          <a:p>
            <a:r>
              <a:rPr lang="en-IN" sz="2600" dirty="0"/>
              <a:t>Rajkumar </a:t>
            </a:r>
            <a:r>
              <a:rPr lang="en-IN" sz="2600" dirty="0" err="1"/>
              <a:t>Buyya</a:t>
            </a:r>
            <a:r>
              <a:rPr lang="en-IN" sz="2600" dirty="0"/>
              <a:t>, Christian </a:t>
            </a:r>
            <a:r>
              <a:rPr lang="en-IN" sz="2600" dirty="0" err="1"/>
              <a:t>Vecchiola</a:t>
            </a:r>
            <a:r>
              <a:rPr lang="en-IN" sz="2600" dirty="0"/>
              <a:t>, &amp; S. Thamarai Selvi. (2013). </a:t>
            </a:r>
            <a:r>
              <a:rPr lang="en-IN" sz="2600" b="1" dirty="0"/>
              <a:t>Mastering Cloud Computing: Foundations and Applications Programming</a:t>
            </a:r>
            <a:r>
              <a:rPr lang="en-IN" sz="2600" dirty="0"/>
              <a:t>. McGraw-Hill Education.</a:t>
            </a:r>
            <a:endParaRPr lang="en-US" sz="2600" dirty="0">
              <a:solidFill>
                <a:srgbClr val="FFFF00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spcBef>
                <a:spcPts val="600"/>
              </a:spcBef>
              <a:buNone/>
            </a:pPr>
            <a:endParaRPr lang="en-US" altLang="en-US" sz="2600" b="1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endParaRPr lang="en-US" altLang="en-US" sz="2200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0">
              <a:lnSpc>
                <a:spcPct val="90000"/>
              </a:lnSpc>
              <a:spcBef>
                <a:spcPts val="600"/>
              </a:spcBef>
              <a:buNone/>
            </a:pPr>
            <a:endParaRPr lang="en-US" sz="22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spcBef>
                <a:spcPts val="600"/>
              </a:spcBef>
              <a:buNone/>
            </a:pPr>
            <a:endParaRPr lang="en-US" altLang="en-US" sz="2200" dirty="0">
              <a:solidFill>
                <a:srgbClr val="FFFFFF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A53EF-2BFC-B3A9-DFA0-67746570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3520" y="2744662"/>
            <a:ext cx="658970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0E0EB0-76F8-F7C1-F276-DA7D84B50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8694" y="6356350"/>
            <a:ext cx="114510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>
                <a:solidFill>
                  <a:srgbClr val="FFFFFF"/>
                </a:solidFill>
              </a:rPr>
              <a:pPr defTabSz="914400"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585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Office Theme</vt:lpstr>
      <vt:lpstr>Cloud Security: Principles and Best Practices</vt:lpstr>
      <vt:lpstr>INTRODUCTION</vt:lpstr>
      <vt:lpstr>ABSTRACT</vt:lpstr>
      <vt:lpstr>Data Protection &amp; Network Security</vt:lpstr>
      <vt:lpstr>Cloud Security Best Practices</vt:lpstr>
      <vt:lpstr>Compliance &amp; Security Standards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challagali praveen</dc:creator>
  <cp:lastModifiedBy>challagali praveen</cp:lastModifiedBy>
  <cp:revision>1</cp:revision>
  <dcterms:modified xsi:type="dcterms:W3CDTF">2026-07-22T04:40:23Z</dcterms:modified>
</cp:coreProperties>
</file>